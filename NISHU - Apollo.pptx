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(Cr)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96F-44C5-B8DB-DDBCFF1B516C}"/>
              </c:ext>
            </c:extLst>
          </c:dPt>
          <c:dPt>
            <c:idx val="1"/>
            <c:invertIfNegative val="0"/>
            <c:bubble3D val="0"/>
            <c:spPr>
              <a:solidFill>
                <a:srgbClr val="1AA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6F-44C5-B8DB-DDBCFF1B516C}"/>
              </c:ext>
            </c:extLst>
          </c:dPt>
          <c:dPt>
            <c:idx val="2"/>
            <c:invertIfNegative val="0"/>
            <c:bubble3D val="0"/>
            <c:spPr>
              <a:solidFill>
                <a:srgbClr val="219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96F-44C5-B8DB-DDBCFF1B516C}"/>
              </c:ext>
            </c:extLst>
          </c:dPt>
          <c:dPt>
            <c:idx val="3"/>
            <c:invertIfNegative val="0"/>
            <c:bubble3D val="0"/>
            <c:spPr>
              <a:solidFill>
                <a:srgbClr val="28A7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96F-44C5-B8DB-DDBCFF1B516C}"/>
              </c:ext>
            </c:extLst>
          </c:dPt>
          <c:dPt>
            <c:idx val="4"/>
            <c:invertIfNegative val="0"/>
            <c:bubble3D val="0"/>
            <c:spPr>
              <a:solidFill>
                <a:srgbClr val="5DC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96F-44C5-B8DB-DDBCFF1B516C}"/>
              </c:ext>
            </c:extLst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96F-44C5-B8DB-DDBCFF1B51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Cardiology &amp;
Cardiothoracic</c:v>
                </c:pt>
                <c:pt idx="1">
                  <c:v>Orthopaedic</c:v>
                </c:pt>
                <c:pt idx="2">
                  <c:v>Neurology &amp;
Neuro</c:v>
                </c:pt>
                <c:pt idx="3">
                  <c:v>General
Medicine</c:v>
                </c:pt>
                <c:pt idx="4">
                  <c:v>Gastro-
enterology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182</c:v>
                </c:pt>
                <c:pt idx="1">
                  <c:v>80.2</c:v>
                </c:pt>
                <c:pt idx="2">
                  <c:v>66.099999999999994</c:v>
                </c:pt>
                <c:pt idx="3">
                  <c:v>57.5</c:v>
                </c:pt>
                <c:pt idx="4">
                  <c:v>53.9</c:v>
                </c:pt>
                <c:pt idx="5">
                  <c:v>52.6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96F-44C5-B8DB-DDBCFF1B51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971-49AE-9F7C-9E8C33309428}"/>
              </c:ext>
            </c:extLst>
          </c:dPt>
          <c:dPt>
            <c:idx val="1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71-49AE-9F7C-9E8C33309428}"/>
              </c:ext>
            </c:extLst>
          </c:dPt>
          <c:dPt>
            <c:idx val="2"/>
            <c:bubble3D val="0"/>
            <c:spPr>
              <a:solidFill>
                <a:srgbClr val="1AA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971-49AE-9F7C-9E8C3330942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971-49AE-9F7C-9E8C3330942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971-49AE-9F7C-9E8C3330942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971-49AE-9F7C-9E8C3330942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Surgical (60.8%)</c:v>
                </c:pt>
                <c:pt idx="1">
                  <c:v>Medical (21.5%)</c:v>
                </c:pt>
                <c:pt idx="2">
                  <c:v>Cath Lab (17.8%)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60.8</c:v>
                </c:pt>
                <c:pt idx="1">
                  <c:v>21.5</c:v>
                </c:pt>
                <c:pt idx="2">
                  <c:v>17.8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971-49AE-9F7C-9E8C33309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LOS (days)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Gen. Medicine</c:v>
                </c:pt>
                <c:pt idx="1">
                  <c:v>Transplants</c:v>
                </c:pt>
                <c:pt idx="2">
                  <c:v>Neurology</c:v>
                </c:pt>
                <c:pt idx="3">
                  <c:v>Nephrology</c:v>
                </c:pt>
                <c:pt idx="4">
                  <c:v>Cardiology</c:v>
                </c:pt>
                <c:pt idx="5">
                  <c:v>Ortho</c:v>
                </c:pt>
                <c:pt idx="6">
                  <c:v>Gen. Surgery</c:v>
                </c:pt>
                <c:pt idx="7">
                  <c:v>Urology</c:v>
                </c:pt>
                <c:pt idx="8">
                  <c:v>ENT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6.6</c:v>
                </c:pt>
                <c:pt idx="1">
                  <c:v>8</c:v>
                </c:pt>
                <c:pt idx="2">
                  <c:v>5.3</c:v>
                </c:pt>
                <c:pt idx="3">
                  <c:v>4.3</c:v>
                </c:pt>
                <c:pt idx="4">
                  <c:v>3.3</c:v>
                </c:pt>
                <c:pt idx="5">
                  <c:v>2.8</c:v>
                </c:pt>
                <c:pt idx="6">
                  <c:v>1.7</c:v>
                </c:pt>
                <c:pt idx="7">
                  <c:v>1.8</c:v>
                </c:pt>
                <c:pt idx="8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86-4FEA-9E7F-1E7125956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Rev/Bed-Day (₹K)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Gen. Medicine</c:v>
                </c:pt>
                <c:pt idx="1">
                  <c:v>Transplants</c:v>
                </c:pt>
                <c:pt idx="2">
                  <c:v>Neurology</c:v>
                </c:pt>
                <c:pt idx="3">
                  <c:v>Nephrology</c:v>
                </c:pt>
                <c:pt idx="4">
                  <c:v>Cardiology</c:v>
                </c:pt>
                <c:pt idx="5">
                  <c:v>Ortho</c:v>
                </c:pt>
                <c:pt idx="6">
                  <c:v>Gen. Surgery</c:v>
                </c:pt>
                <c:pt idx="7">
                  <c:v>Urology</c:v>
                </c:pt>
                <c:pt idx="8">
                  <c:v>ENT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43.1</c:v>
                </c:pt>
                <c:pt idx="1">
                  <c:v>74.599999999999994</c:v>
                </c:pt>
                <c:pt idx="2">
                  <c:v>63.9</c:v>
                </c:pt>
                <c:pt idx="3">
                  <c:v>45.1</c:v>
                </c:pt>
                <c:pt idx="4">
                  <c:v>72.3</c:v>
                </c:pt>
                <c:pt idx="5">
                  <c:v>87</c:v>
                </c:pt>
                <c:pt idx="6">
                  <c:v>85</c:v>
                </c:pt>
                <c:pt idx="7">
                  <c:v>92.7</c:v>
                </c:pt>
                <c:pt idx="8">
                  <c:v>77.599999999999994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86-4FEA-9E7F-1E7125956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E0E-495A-8AFF-EDDB544A6B8A}"/>
              </c:ext>
            </c:extLst>
          </c:dPt>
          <c:dPt>
            <c:idx val="1"/>
            <c:invertIfNegative val="0"/>
            <c:bubble3D val="0"/>
            <c:spPr>
              <a:solidFill>
                <a:srgbClr val="1AA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0E-495A-8AFF-EDDB544A6B8A}"/>
              </c:ext>
            </c:extLst>
          </c:dPt>
          <c:dPt>
            <c:idx val="2"/>
            <c:invertIfNegative val="0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0E-495A-8AFF-EDDB544A6B8A}"/>
              </c:ext>
            </c:extLst>
          </c:dPt>
          <c:dPt>
            <c:idx val="3"/>
            <c:invertIfNegative val="0"/>
            <c:bubble3D val="0"/>
            <c:spPr>
              <a:solidFill>
                <a:srgbClr val="28B6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E0E-495A-8AFF-EDDB544A6B8A}"/>
              </c:ext>
            </c:extLst>
          </c:dPt>
          <c:dPt>
            <c:idx val="4"/>
            <c:invertIfNegative val="0"/>
            <c:bubble3D val="0"/>
            <c:spPr>
              <a:solidFill>
                <a:srgbClr val="5DC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E0E-495A-8AFF-EDDB544A6B8A}"/>
              </c:ext>
            </c:extLst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E0E-495A-8AFF-EDDB544A6B8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Chennai</c:v>
                </c:pt>
                <c:pt idx="1">
                  <c:v>Rest of TN (ROTN)</c:v>
                </c:pt>
                <c:pt idx="2">
                  <c:v>Other States</c:v>
                </c:pt>
                <c:pt idx="3">
                  <c:v>West Bengal</c:v>
                </c:pt>
                <c:pt idx="4">
                  <c:v>IPS / Intl</c:v>
                </c:pt>
                <c:pt idx="5">
                  <c:v>Assam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235</c:v>
                </c:pt>
                <c:pt idx="1">
                  <c:v>115.2</c:v>
                </c:pt>
                <c:pt idx="2">
                  <c:v>127.8</c:v>
                </c:pt>
                <c:pt idx="3">
                  <c:v>86.9</c:v>
                </c:pt>
                <c:pt idx="4">
                  <c:v>37.1</c:v>
                </c:pt>
                <c:pt idx="5">
                  <c:v>44.3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E0E-495A-8AFF-EDDB544A6B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A9A-4135-A7B1-2A438FD4311E}"/>
              </c:ext>
            </c:extLst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9A-4135-A7B1-2A438FD4311E}"/>
              </c:ext>
            </c:extLst>
          </c:dPt>
          <c:dPt>
            <c:idx val="2"/>
            <c:invertIfNegative val="0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9A-4135-A7B1-2A438FD4311E}"/>
              </c:ext>
            </c:extLst>
          </c:dPt>
          <c:dPt>
            <c:idx val="3"/>
            <c:invertIfNegative val="0"/>
            <c:bubble3D val="0"/>
            <c:spPr>
              <a:solidFill>
                <a:srgbClr val="1AA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A9A-4135-A7B1-2A438FD4311E}"/>
              </c:ext>
            </c:extLst>
          </c:dPt>
          <c:dPt>
            <c:idx val="4"/>
            <c:invertIfNegative val="0"/>
            <c:bubble3D val="0"/>
            <c:spPr>
              <a:solidFill>
                <a:srgbClr val="1AA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A9A-4135-A7B1-2A438FD4311E}"/>
              </c:ext>
            </c:extLst>
          </c:dPt>
          <c:dPt>
            <c:idx val="5"/>
            <c:invertIfNegative val="0"/>
            <c:bubble3D val="0"/>
            <c:spPr>
              <a:solidFill>
                <a:srgbClr val="5DC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A9A-4135-A7B1-2A438FD4311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Coronary Angiogram</c:v>
                </c:pt>
                <c:pt idx="1">
                  <c:v>Lap. Cholecystectomy</c:v>
                </c:pt>
                <c:pt idx="2">
                  <c:v>Angioplasty</c:v>
                </c:pt>
                <c:pt idx="3">
                  <c:v>Angio + Angioplasty</c:v>
                </c:pt>
                <c:pt idx="4">
                  <c:v>CABG</c:v>
                </c:pt>
                <c:pt idx="5">
                  <c:v>Emergency PTCA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2796</c:v>
                </c:pt>
                <c:pt idx="1">
                  <c:v>803</c:v>
                </c:pt>
                <c:pt idx="2">
                  <c:v>491</c:v>
                </c:pt>
                <c:pt idx="3">
                  <c:v>395</c:v>
                </c:pt>
                <c:pt idx="4">
                  <c:v>317</c:v>
                </c:pt>
                <c:pt idx="5">
                  <c:v>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A9A-4135-A7B1-2A438FD431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+20% Volume Impact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B84-422D-9831-2C3D9C50C8C2}"/>
              </c:ext>
            </c:extLst>
          </c:dPt>
          <c:dPt>
            <c:idx val="1"/>
            <c:invertIfNegative val="0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84-422D-9831-2C3D9C50C8C2}"/>
              </c:ext>
            </c:extLst>
          </c:dPt>
          <c:dPt>
            <c:idx val="2"/>
            <c:invertIfNegative val="0"/>
            <c:bubble3D val="0"/>
            <c:spPr>
              <a:solidFill>
                <a:srgbClr val="1AA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B84-422D-9831-2C3D9C50C8C2}"/>
              </c:ext>
            </c:extLst>
          </c:dPt>
          <c:dPt>
            <c:idx val="3"/>
            <c:invertIfNegative val="0"/>
            <c:bubble3D val="0"/>
            <c:spPr>
              <a:solidFill>
                <a:srgbClr val="1AA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B84-422D-9831-2C3D9C50C8C2}"/>
              </c:ext>
            </c:extLst>
          </c:dPt>
          <c:dPt>
            <c:idx val="4"/>
            <c:invertIfNegative val="0"/>
            <c:bubble3D val="0"/>
            <c:spPr>
              <a:solidFill>
                <a:srgbClr val="5DC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B84-422D-9831-2C3D9C50C8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Angioplasty (+20%)</c:v>
                </c:pt>
                <c:pt idx="1">
                  <c:v>CABG (+20%)</c:v>
                </c:pt>
                <c:pt idx="2">
                  <c:v>Lap. Chole. (+20%)</c:v>
                </c:pt>
                <c:pt idx="3">
                  <c:v>Angio+Angio. (+20%)</c:v>
                </c:pt>
                <c:pt idx="4">
                  <c:v>Emergency PTCA (+20%)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2.36</c:v>
                </c:pt>
                <c:pt idx="1">
                  <c:v>2.12</c:v>
                </c:pt>
                <c:pt idx="2">
                  <c:v>2.02</c:v>
                </c:pt>
                <c:pt idx="3">
                  <c:v>1.91</c:v>
                </c:pt>
                <c:pt idx="4">
                  <c:v>1.22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84-422D-9831-2C3D9C50C8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284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1848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22008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2567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2407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2239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4199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2817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595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77555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0199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8069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04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93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91828"/>
          </a:solidFill>
          <a:ln w="12700">
            <a:solidFill>
              <a:srgbClr val="091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3872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833872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BUSINESS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Performance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4003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Multi-Specialty Tertiary Care Hospital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Inpatient Billing Analytics — FY 2025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8076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30,681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80760" y="1024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362456"/>
            <a:ext cx="2103120" cy="0"/>
          </a:xfrm>
          <a:prstGeom prst="line">
            <a:avLst/>
          </a:prstGeom>
          <a:noFill/>
          <a:ln w="12700">
            <a:solidFill>
              <a:srgbClr val="1A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6276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₹646 Cr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8076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2441448"/>
            <a:ext cx="2103120" cy="0"/>
          </a:xfrm>
          <a:prstGeom prst="line">
            <a:avLst/>
          </a:prstGeom>
          <a:noFill/>
          <a:ln w="12700">
            <a:solidFill>
              <a:srgbClr val="1A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7066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₹2.11 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80760" y="3182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Rev/Patient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3520440"/>
            <a:ext cx="2103120" cy="0"/>
          </a:xfrm>
          <a:prstGeom prst="line">
            <a:avLst/>
          </a:prstGeom>
          <a:noFill/>
          <a:ln w="12700">
            <a:solidFill>
              <a:srgbClr val="1A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7856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days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80760" y="42611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Length of Stay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By - Nishu Goyal  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Business Drivers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955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driving total revenue?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170432"/>
            <a:ext cx="20299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70432"/>
            <a:ext cx="2029968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61872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₹646 Cr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92608" y="1773936"/>
            <a:ext cx="184708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(INR)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14016" y="1170432"/>
            <a:ext cx="20299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14016" y="1170432"/>
            <a:ext cx="2029968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261872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₹2.11 Lakh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505456" y="1773936"/>
            <a:ext cx="184708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/ Patient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170432"/>
            <a:ext cx="20299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170432"/>
            <a:ext cx="2029968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261872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₹66,397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718304" y="1773936"/>
            <a:ext cx="184708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Bed-Day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9712" y="1170432"/>
            <a:ext cx="20299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39712" y="1170432"/>
            <a:ext cx="2029968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1261872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30,681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931152" y="1773936"/>
            <a:ext cx="184708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" y="23591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Master Specialty (Top 6) — INR Crore</a:t>
            </a:r>
            <a:endParaRPr lang="en-US" sz="11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01168" y="2606040"/>
          <a:ext cx="50292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5440680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Admission Type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40680" y="4224528"/>
            <a:ext cx="3474720" cy="685800"/>
          </a:xfrm>
          <a:prstGeom prst="rect">
            <a:avLst/>
          </a:prstGeom>
          <a:solidFill>
            <a:srgbClr val="FFF8EC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532120" y="4251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 Insight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532120" y="44805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dominates at 28% of revenue. Top 3 specialties = 51% total revenue — high concentration risk. Surgical admissions drive 61% of revenue at highest avg billing (₹2.6L/case).</a:t>
            </a:r>
            <a:endParaRPr lang="en-US" sz="850" dirty="0"/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CA304D38-AAF8-93E2-48F2-93AC0FC995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9183005"/>
              </p:ext>
            </p:extLst>
          </p:nvPr>
        </p:nvGraphicFramePr>
        <p:xfrm>
          <a:off x="5532120" y="2647493"/>
          <a:ext cx="302514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— Operational Efficiency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955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high-LOS specialties, bed utilization patterns, and financial justification of stays.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170432"/>
            <a:ext cx="2240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70432"/>
            <a:ext cx="224028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61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days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2608" y="17190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24328" y="1170432"/>
            <a:ext cx="2240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4328" y="1170432"/>
            <a:ext cx="2240280" cy="64008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261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 days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15768" y="17190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(outlier)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176272"/>
            <a:ext cx="2240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2176272"/>
            <a:ext cx="224028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2677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days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92608" y="27249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Transplants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LOS)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24328" y="2176272"/>
            <a:ext cx="2240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24328" y="2176272"/>
            <a:ext cx="2240280" cy="64008"/>
          </a:xfrm>
          <a:prstGeom prst="rect">
            <a:avLst/>
          </a:prstGeom>
          <a:solidFill>
            <a:srgbClr val="1B9B5E"/>
          </a:solidFill>
          <a:ln w="12700">
            <a:solidFill>
              <a:srgbClr val="1B9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5768" y="22677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days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715768" y="27249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(most efficient)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" y="3200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LOS vs. Revenue per Bed-Day by Specialty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01168" y="3456432"/>
          <a:ext cx="493776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5285232" y="1170432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285232" y="1170432"/>
            <a:ext cx="64008" cy="868680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0680" y="12252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Bed-Blocking Risk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40680" y="1481328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Medicine avg LOS = 6.6 days with lowest Rev/Bed-Day (₹43K). Review discharge protocol urgently.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285232" y="2157984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285232" y="2157984"/>
            <a:ext cx="64008" cy="8686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40680" y="221284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Justified High LOS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440680" y="2468880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 &amp; Transplants show high LOS but also high Rev/Bed-Day (₹63–75K). Complex cases — clinically expected.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285232" y="3145536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285232" y="3145536"/>
            <a:ext cx="64008" cy="868680"/>
          </a:xfrm>
          <a:prstGeom prst="rect">
            <a:avLst/>
          </a:prstGeom>
          <a:solidFill>
            <a:srgbClr val="1B9B5E"/>
          </a:solidFill>
          <a:ln w="12700">
            <a:solidFill>
              <a:srgbClr val="1B9B5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40680" y="320040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High Efficiency Units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440680" y="3456432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Urology (₹93K/day) &amp; Orthopaedics (₹87K/day) show best revenue yield per bed-day — model for other units.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285232" y="4133088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285232" y="4133088"/>
            <a:ext cx="64008" cy="868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40680" y="418795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Critical Care Outlier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440680" y="4443984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Care Team A: LOS 17.5 days, ₹6.9L/case. ICU-heavy cases — review ICU step-down protocols.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Performance — Intra-Department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955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" y="1223772"/>
            <a:ext cx="3067812" cy="3392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" y="1316736"/>
            <a:ext cx="28346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3395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&amp; Cardiothoracic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2148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Benchmarks: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" y="23317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Rev: ₹182 Cr  |  Cases: 7,610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24963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LOS: 3.3d  |  Avg Rev/Case: ₹2.39L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8328" y="2697480"/>
            <a:ext cx="2560320" cy="0"/>
          </a:xfrm>
          <a:prstGeom prst="line">
            <a:avLst/>
          </a:prstGeom>
          <a:noFill/>
          <a:ln w="12700">
            <a:solidFill>
              <a:srgbClr val="E2E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788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Performer: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8328" y="29718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 Mehta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" y="3154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586 cases | ₹21.2Cr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8328" y="33192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151% of specialty avg rev/case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3483864"/>
            <a:ext cx="256032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1AA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59359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Within-Specialty Insight: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2336" y="3767328"/>
            <a:ext cx="24323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generates 51% above specialty avg. Focus: standardize high-value protocols.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91840" y="1295400"/>
            <a:ext cx="2770632" cy="3304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9544" y="1295400"/>
            <a:ext cx="28346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13548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Orthopaedic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9272" y="2148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Benchmarks: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19272" y="23317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Rev: ₹80 Cr  |  Cases: 3,272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19272" y="24963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LOS: 2.8d  |  Avg Rev/Case: ₹2.45L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19272" y="2697480"/>
            <a:ext cx="2560320" cy="0"/>
          </a:xfrm>
          <a:prstGeom prst="line">
            <a:avLst/>
          </a:prstGeom>
          <a:noFill/>
          <a:ln w="12700">
            <a:solidFill>
              <a:srgbClr val="E2EE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2788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Performer: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19272" y="29718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V. Pillai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19272" y="3154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611 cases | ₹13.0Cr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19272" y="33192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specialty avg rev/case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319272" y="3483864"/>
            <a:ext cx="256032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1AAF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59359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Within-Specialty Insight: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83280" y="3767328"/>
            <a:ext cx="24323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but below avg rev/case. Opportunity: billing optimization for complex cases.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72200" y="1210056"/>
            <a:ext cx="2843784" cy="3392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1298448"/>
            <a:ext cx="28346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4204" y="1368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 &amp; Neurosurgery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0216" y="2148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Benchmarks: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00216" y="23317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Rev: ₹66 Cr  |  Cases: 1,967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300216" y="24963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LOS: 5.3d  |  Avg Rev/Case: ₹3.36L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00216" y="2697480"/>
            <a:ext cx="2560320" cy="0"/>
          </a:xfrm>
          <a:prstGeom prst="line">
            <a:avLst/>
          </a:prstGeom>
          <a:noFill/>
          <a:ln w="12700">
            <a:solidFill>
              <a:srgbClr val="E2EE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2788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Performer: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00216" y="29718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K. Ahuja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0216" y="3154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 cases | ₹26.8Cr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00216" y="33192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110% of specialty avg rev/case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95644" y="3502152"/>
            <a:ext cx="256032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1AAF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359359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Within-Specialty Insight: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64224" y="3767328"/>
            <a:ext cx="24323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performance. LOS within expected range for complex neuro cases.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01168" y="4800600"/>
            <a:ext cx="8741664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Methodology: Each consultant benchmarked against their own specialty average — enables fair comparison and identifies skill transfer opportunities within departments.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Market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955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origin analysis, regional revenue contribution, and outstation patient value.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" y="11704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by Patient Origin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01168" y="1463040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201168" y="38039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per Case by Origin (₹)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01168" y="4096512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41148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₹2.30L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6888" y="42976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892808" y="4096512"/>
            <a:ext cx="1600200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38528" y="41148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₹2.61L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938528" y="42976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D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Tamil Nadu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584448" y="4096512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30168" y="41148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₹2.27L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30168" y="42976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States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01168" y="4572000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6888" y="45902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₹1.45L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46888" y="47731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892808" y="4572000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938528" y="45902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938528" y="47731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/ International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584448" y="4572000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30168" y="45902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₹1.54L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630168" y="47731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413248" y="1170432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13248" y="1170432"/>
            <a:ext cx="64008" cy="868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59552" y="12252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Local Dominance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559552" y="146304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patients = 36% of revenue (₹235 Cr) and largest volume (10,201). Strong local catchment.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13248" y="214884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413248" y="2148840"/>
            <a:ext cx="64008" cy="8686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59552" y="22037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ROTN = Highest Rev/Case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559552" y="24414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Tamil Nadu patients average ₹2.61L/case — highest of all segments. Referral strengthening opportunity.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413248" y="3127248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13248" y="3127248"/>
            <a:ext cx="64008" cy="868680"/>
          </a:xfrm>
          <a:prstGeom prst="rect">
            <a:avLst/>
          </a:prstGeom>
          <a:solidFill>
            <a:srgbClr val="1AAFA6"/>
          </a:solidFill>
          <a:ln w="12700">
            <a:solidFill>
              <a:srgbClr val="1AAF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59552" y="31821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Medical Tourism Potential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559552" y="341985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(International) = 1,663 patients at ₹2.23L avg. WB + Assam = 8,773 patients (29% volume). Outstation care desk could boost.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413248" y="4105656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413248" y="4105656"/>
            <a:ext cx="64008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59552" y="41605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Out-of-State Value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559552" y="439826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Outstation patients = 64% of total but contribute 63.6% revenue. Outreach investment has clear ROI.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Procedure-Level Analysis — Scalable Growth Opportunities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955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" y="9646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Procedures (Top 6)</a:t>
            </a:r>
            <a:endParaRPr lang="en-US" sz="10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1494999497"/>
              </p:ext>
            </p:extLst>
          </p:nvPr>
        </p:nvGraphicFramePr>
        <p:xfrm>
          <a:off x="201168" y="1403604"/>
          <a:ext cx="4160520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677156" y="9997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Revenue Growth (₹ Cr potential)</a:t>
            </a:r>
            <a:endParaRPr lang="en-US" sz="1050" dirty="0"/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616994066"/>
              </p:ext>
            </p:extLst>
          </p:nvPr>
        </p:nvGraphicFramePr>
        <p:xfrm>
          <a:off x="4700016" y="1403604"/>
          <a:ext cx="4242816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132588" y="3631692"/>
            <a:ext cx="4251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76276" y="3602736"/>
            <a:ext cx="54864" cy="5120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69748" y="366852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Angioplasty — Expand Capacity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69748" y="3794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491 cases at ₹2.4L/case. +20% volume = +₹2.36 Cr. Add 1 cath lab shift or dedicated interventional day.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622292" y="3610102"/>
            <a:ext cx="4251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54296" y="3628390"/>
            <a:ext cx="54864" cy="5120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75708" y="36484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Coronary Angio Conversion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800600" y="3794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2,796 cases at only ₹29K/case (diagnostic). Converting 10% to interventional = +₹33.8 Cr revenue uplift.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155448" y="4192524"/>
            <a:ext cx="4251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82880" y="4224528"/>
            <a:ext cx="54864" cy="5120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83464" y="420446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CABG — Optimize Pathway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06324" y="4389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 cases at ₹3.3L/case, LOS 8.4 days. Pathway optimization could trim 1 day → free 317 bed-days/year for growth.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4631436" y="4214622"/>
            <a:ext cx="4251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54296" y="4261104"/>
            <a:ext cx="54864" cy="5120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68596" y="4244975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TAVR — Market Appropriate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775708" y="443509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cases acknowledged as appropriate volume for Indian market. Maintain quality over aggressive expansion.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091828"/>
          </a:solidFill>
          <a:ln w="12700">
            <a:solidFill>
              <a:srgbClr val="091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Strategic Recommendations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5 KEY INSIGHTS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4983480" cy="649224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61872"/>
            <a:ext cx="64008" cy="6492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075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Revenue concentration risk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specialties = 51% of revenue. Diversification needed to reduce dependency.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1993392"/>
            <a:ext cx="4983480" cy="649224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993392"/>
            <a:ext cx="64008" cy="6492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3911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Surgical drives 61% revenue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26771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admissions (₹2.6L avg) are primary engine. Protect capacity.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724912"/>
            <a:ext cx="4983480" cy="649224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724912"/>
            <a:ext cx="64008" cy="6492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7063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Intra-dept performance variance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99923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specialties: top performers generate 110-151% of dept avg — standardize protocols.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3456432"/>
            <a:ext cx="4983480" cy="649224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3456432"/>
            <a:ext cx="64008" cy="6492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50215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Outstation underleveraged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73075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WB+Assam = 8,773 patients but only ₹1.45L avg vs ₹2.61L from ROTN.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4187952"/>
            <a:ext cx="4983480" cy="649224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4187952"/>
            <a:ext cx="64008" cy="6492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2336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Angioplasty scalability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446227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491 cases at ₹2.4L. +20% volume = +₹2.36 Cr with minimal capex.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40680" y="896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3 STRATEGIC RECOMMENDATIONS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1261872"/>
            <a:ext cx="3493008" cy="1078992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1261872"/>
            <a:ext cx="64008" cy="10789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13167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97880" y="1316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High-Volume Cardiac Procedures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77840" y="160934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Angioplasty +20% via dedicated cath lab shifts. Coronary angio conversion program targeting 10% → interventional. Combined potential: +₹36 Cr/year.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40680" y="2450592"/>
            <a:ext cx="3493008" cy="1078992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40680" y="2450592"/>
            <a:ext cx="64008" cy="1078992"/>
          </a:xfrm>
          <a:prstGeom prst="rect">
            <a:avLst/>
          </a:prstGeom>
          <a:solidFill>
            <a:srgbClr val="1AAFA6"/>
          </a:solidFill>
          <a:ln w="12700">
            <a:solidFill>
              <a:srgbClr val="1AAF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5054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9788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Within-Specialty Best Practice Transfer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77840" y="279806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cardio performers generate 51% above avg. Document &amp; replicate protocols across dept. Lift bottom quartile to median = +₹8 Cr/specialty.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40680" y="3639312"/>
            <a:ext cx="3493008" cy="1078992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0680" y="3639312"/>
            <a:ext cx="64008" cy="1078992"/>
          </a:xfrm>
          <a:prstGeom prst="rect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69417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897880" y="3694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 LOS Reduction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577840" y="398678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LOS from 6.6 → 5.2 days via rapid discharge rounds. Frees 2,800 bed-days/year for higher-margin surgical admissions.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40680" y="4754880"/>
            <a:ext cx="3493008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47823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Monthly KPIs: (1) Within-Specialty Rev/Case Variance  |  (2) Coronary Angio → Interventional Conversion %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</TotalTime>
  <Words>1070</Words>
  <Application>Microsoft Office PowerPoint</Application>
  <PresentationFormat>On-screen Show (16:9)</PresentationFormat>
  <Paragraphs>153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Analytics – Executive Presentation (Revised)</dc:title>
  <dc:subject>PptxGenJS Presentation</dc:subject>
  <dc:creator>PptxGenJS</dc:creator>
  <cp:lastModifiedBy>Nishu Goyal</cp:lastModifiedBy>
  <cp:revision>2</cp:revision>
  <dcterms:created xsi:type="dcterms:W3CDTF">2026-02-19T10:42:43Z</dcterms:created>
  <dcterms:modified xsi:type="dcterms:W3CDTF">2026-02-19T11:19:47Z</dcterms:modified>
</cp:coreProperties>
</file>